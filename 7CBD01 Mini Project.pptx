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16"/>
  </p:notesMasterIdLst>
  <p:sldIdLst>
    <p:sldId id="274" r:id="rId5"/>
    <p:sldId id="256" r:id="rId6"/>
    <p:sldId id="257" r:id="rId7"/>
    <p:sldId id="269" r:id="rId8"/>
    <p:sldId id="275" r:id="rId9"/>
    <p:sldId id="268" r:id="rId10"/>
    <p:sldId id="273" r:id="rId11"/>
    <p:sldId id="272" r:id="rId12"/>
    <p:sldId id="270"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1_Title Slide">
    <p:spTree>
      <p:nvGrpSpPr>
        <p:cNvPr id="1" name=""/>
        <p:cNvGrpSpPr/>
        <p:nvPr/>
      </p:nvGrpSpPr>
      <p:grpSpPr>
        <a:xfrm>
          <a:off x="0" y="0"/>
          <a:ext cx="0" cy="0"/>
          <a:chOff x="0" y="0"/>
          <a:chExt cx="0" cy="0"/>
        </a:xfrm>
      </p:grpSpPr>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9" name="Picture 8">
            <a:extLst>
              <a:ext uri="{FF2B5EF4-FFF2-40B4-BE49-F238E27FC236}">
                <a16:creationId xmlns:a16="http://schemas.microsoft.com/office/drawing/2014/main" id="{FDA50E9A-5B29-3F48-C37D-89C17238E29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91275"/>
            <a:ext cx="12192000" cy="466725"/>
          </a:xfrm>
          <a:prstGeom prst="rect">
            <a:avLst/>
          </a:prstGeom>
        </p:spPr>
      </p:pic>
    </p:spTree>
    <p:extLst>
      <p:ext uri="{BB962C8B-B14F-4D97-AF65-F5344CB8AC3E}">
        <p14:creationId xmlns:p14="http://schemas.microsoft.com/office/powerpoint/2010/main" val="214815855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4">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MaddineniCharanKumar/MLBased-Wildfire-Spread-Prediction?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80/10095020.2024.2347922"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oi.org/10.3390/jimaging12010043" TargetMode="External"/><Relationship Id="rId5" Type="http://schemas.openxmlformats.org/officeDocument/2006/relationships/hyperlink" Target="https://doi.org/10.3390/su180" TargetMode="External"/><Relationship Id="rId4" Type="http://schemas.openxmlformats.org/officeDocument/2006/relationships/hyperlink" Target="https://doi.org/10.3390/electronics15132830"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0" y="38024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dirty="0">
              <a:latin typeface="+mj-lt"/>
            </a:endParaRPr>
          </a:p>
        </p:txBody>
      </p:sp>
      <p:sp>
        <p:nvSpPr>
          <p:cNvPr id="200" name="TextBox 5"/>
          <p:cNvSpPr txBox="1">
            <a:spLocks noGrp="1"/>
          </p:cNvSpPr>
          <p:nvPr>
            <p:ph type="sldNum" sz="quarter" idx="2"/>
          </p:nvPr>
        </p:nvSpPr>
        <p:spPr>
          <a:xfrm>
            <a:off x="11396678" y="454968"/>
            <a:ext cx="162863" cy="246221"/>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1573968" y="3788227"/>
            <a:ext cx="8724276" cy="4969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lnSpc>
                <a:spcPct val="150000"/>
              </a:lnSpc>
              <a:defRPr sz="1600" spc="300">
                <a:solidFill>
                  <a:srgbClr val="FFFFFF"/>
                </a:solidFill>
              </a:defRPr>
            </a:lvl1pPr>
          </a:lstStyle>
          <a:p>
            <a:r>
              <a:rPr lang="en-IN" sz="2000" dirty="0">
                <a:latin typeface="+mj-lt"/>
              </a:rPr>
              <a:t>School of Artificial Intelligence and Advanced Computing</a:t>
            </a:r>
            <a:endParaRPr sz="2000"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10" name="Picture 9">
            <a:extLst>
              <a:ext uri="{FF2B5EF4-FFF2-40B4-BE49-F238E27FC236}">
                <a16:creationId xmlns:a16="http://schemas.microsoft.com/office/drawing/2014/main" id="{379FE14F-095F-73F1-B975-3CCBF67C0C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40771"/>
            <a:ext cx="12192000" cy="469900"/>
          </a:xfrm>
          <a:prstGeom prst="rect">
            <a:avLst/>
          </a:prstGeom>
        </p:spPr>
      </p:pic>
      <p:sp>
        <p:nvSpPr>
          <p:cNvPr id="13" name="TextBox 5"/>
          <p:cNvSpPr txBox="1"/>
          <p:nvPr/>
        </p:nvSpPr>
        <p:spPr>
          <a:xfrm>
            <a:off x="2114624" y="2392826"/>
            <a:ext cx="8295781" cy="163121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spTree>
    <p:extLst>
      <p:ext uri="{BB962C8B-B14F-4D97-AF65-F5344CB8AC3E}">
        <p14:creationId xmlns:p14="http://schemas.microsoft.com/office/powerpoint/2010/main" val="146604809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IN" dirty="0">
                <a:solidFill>
                  <a:schemeClr val="tx1"/>
                </a:solidFill>
              </a:rPr>
              <a:t>Computer Vision-Based Wildfire Detection Using a Hybrid  </a:t>
            </a:r>
            <a:r>
              <a:rPr lang="en-IN" dirty="0" err="1">
                <a:solidFill>
                  <a:schemeClr val="tx1"/>
                </a:solidFill>
              </a:rPr>
              <a:t>YoLo</a:t>
            </a:r>
            <a:r>
              <a:rPr lang="en-IN" dirty="0">
                <a:solidFill>
                  <a:schemeClr val="tx1"/>
                </a:solidFill>
              </a:rPr>
              <a:t> Model </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4234730" y="225088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a:solidFill>
                  <a:schemeClr val="tx1"/>
                </a:solidFill>
                <a:latin typeface="Cambria" panose="02040503050406030204" pitchFamily="18" charset="0"/>
                <a:ea typeface="Cambria" panose="02040503050406030204" pitchFamily="18" charset="0"/>
              </a:rPr>
              <a:t>CBD_2</a:t>
            </a:r>
            <a:endParaRPr dirty="0">
              <a:solidFill>
                <a:schemeClr val="tx1"/>
              </a:solidFill>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421096931"/>
              </p:ext>
            </p:extLst>
          </p:nvPr>
        </p:nvGraphicFramePr>
        <p:xfrm>
          <a:off x="553347" y="2721840"/>
          <a:ext cx="5418675" cy="146308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lgn="ctr">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lgn="ctr">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7413953" y="4533900"/>
            <a:ext cx="4895605" cy="18542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r>
              <a:rPr lang="en-GB" sz="2000" b="1" dirty="0">
                <a:solidFill>
                  <a:srgbClr val="17365D"/>
                </a:solidFill>
                <a:latin typeface="Cambria" panose="02040503050406030204" pitchFamily="18" charset="0"/>
                <a:ea typeface="Cambria" panose="02040503050406030204" pitchFamily="18" charset="0"/>
                <a:cs typeface="Verdana"/>
                <a:sym typeface="Verdana"/>
              </a:rPr>
              <a:t>,</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dirty="0" err="1">
                <a:solidFill>
                  <a:schemeClr val="tx1"/>
                </a:solidFill>
                <a:latin typeface="Cambria" panose="02040503050406030204" pitchFamily="18" charset="0"/>
                <a:ea typeface="Cambria" panose="02040503050406030204" pitchFamily="18" charset="0"/>
                <a:sym typeface="Verdana"/>
              </a:rPr>
              <a:t>Dr.Vignesh</a:t>
            </a:r>
            <a:r>
              <a:rPr lang="en-GB" sz="1700" b="1" dirty="0">
                <a:solidFill>
                  <a:schemeClr val="tx1"/>
                </a:solidFill>
                <a:latin typeface="Cambria" panose="02040503050406030204" pitchFamily="18" charset="0"/>
                <a:ea typeface="Cambria" panose="02040503050406030204" pitchFamily="18" charset="0"/>
                <a:sym typeface="Verdana"/>
              </a:rPr>
              <a:t> R</a:t>
            </a:r>
            <a:endParaRPr dirty="0">
              <a:solidFill>
                <a:schemeClr val="tx1"/>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Associate Professor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Selecion</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Grade)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Artificial </a:t>
            </a:r>
            <a:r>
              <a:rPr lang="en-GB" sz="17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Intllegence</a:t>
            </a: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and Advance Computing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p:txBody>
      </p:sp>
      <p:sp>
        <p:nvSpPr>
          <p:cNvPr id="91" name="Google Shape;91;p13"/>
          <p:cNvSpPr txBox="1"/>
          <p:nvPr/>
        </p:nvSpPr>
        <p:spPr>
          <a:xfrm>
            <a:off x="3986771" y="334089"/>
            <a:ext cx="5425083" cy="55230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CSS7102- Mini  Project Review-1</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76040"/>
            <a:ext cx="7266039"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a:solidFill>
                  <a:schemeClr val="tx1"/>
                </a:solidFill>
                <a:latin typeface="Calibri" pitchFamily="34" charset="0"/>
                <a:ea typeface="Calibri" pitchFamily="34" charset="-122"/>
                <a:cs typeface="Calibri" pitchFamily="34" charset="-120"/>
                <a:sym typeface="Verdana"/>
              </a:rPr>
              <a:t>Computer Science &amp; Technology(Big Data)</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err="1">
                <a:solidFill>
                  <a:schemeClr val="tx1"/>
                </a:solidFill>
                <a:latin typeface="Cambria" panose="02040503050406030204" pitchFamily="18" charset="0"/>
                <a:ea typeface="Cambria" panose="02040503050406030204" pitchFamily="18" charset="0"/>
                <a:cs typeface="Verdana"/>
                <a:sym typeface="Verdana"/>
              </a:rPr>
              <a:t>Dr.S.Pravinth</a:t>
            </a:r>
            <a:r>
              <a:rPr lang="en-US" sz="2000" b="1" dirty="0">
                <a:solidFill>
                  <a:schemeClr val="tx1"/>
                </a:solidFill>
                <a:latin typeface="Cambria" panose="02040503050406030204" pitchFamily="18" charset="0"/>
                <a:ea typeface="Cambria" panose="02040503050406030204" pitchFamily="18" charset="0"/>
                <a:cs typeface="Verdana"/>
                <a:sym typeface="Verdana"/>
              </a:rPr>
              <a:t> Raj</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dirty="0" err="1">
                <a:solidFill>
                  <a:schemeClr val="tx1"/>
                </a:solidFill>
                <a:latin typeface="Cambria" panose="02040503050406030204" pitchFamily="18" charset="0"/>
                <a:ea typeface="Cambria" panose="02040503050406030204" pitchFamily="18" charset="0"/>
                <a:cs typeface="Verdana"/>
                <a:sym typeface="Verdana"/>
              </a:rPr>
              <a:t>Dr.Sameena</a:t>
            </a:r>
            <a:r>
              <a:rPr lang="en-US" sz="2000" b="1" dirty="0">
                <a:solidFill>
                  <a:schemeClr val="tx1"/>
                </a:solidFill>
                <a:latin typeface="Cambria" panose="02040503050406030204" pitchFamily="18" charset="0"/>
                <a:ea typeface="Cambria" panose="02040503050406030204" pitchFamily="18" charset="0"/>
                <a:cs typeface="Verdana"/>
                <a:sym typeface="Verdana"/>
              </a:rPr>
              <a:t> Banu</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2" name="Table 1">
            <a:extLst>
              <a:ext uri="{FF2B5EF4-FFF2-40B4-BE49-F238E27FC236}">
                <a16:creationId xmlns:a16="http://schemas.microsoft.com/office/drawing/2014/main" id="{800D25B2-FD18-4A68-0A22-FF7DB964270A}"/>
              </a:ext>
            </a:extLst>
          </p:cNvPr>
          <p:cNvGraphicFramePr>
            <a:graphicFrameLocks noGrp="1"/>
          </p:cNvGraphicFramePr>
          <p:nvPr>
            <p:extLst>
              <p:ext uri="{D42A27DB-BD31-4B8C-83A1-F6EECF244321}">
                <p14:modId xmlns:p14="http://schemas.microsoft.com/office/powerpoint/2010/main" val="3866084140"/>
              </p:ext>
            </p:extLst>
          </p:nvPr>
        </p:nvGraphicFramePr>
        <p:xfrm>
          <a:off x="2700262" y="2668415"/>
          <a:ext cx="6676104" cy="1854200"/>
        </p:xfrm>
        <a:graphic>
          <a:graphicData uri="http://schemas.openxmlformats.org/drawingml/2006/table">
            <a:tbl>
              <a:tblPr firstRow="1" bandRow="1"/>
              <a:tblGrid>
                <a:gridCol w="3338052">
                  <a:extLst>
                    <a:ext uri="{9D8B030D-6E8A-4147-A177-3AD203B41FA5}">
                      <a16:colId xmlns:a16="http://schemas.microsoft.com/office/drawing/2014/main" val="520202079"/>
                    </a:ext>
                  </a:extLst>
                </a:gridCol>
                <a:gridCol w="3338052">
                  <a:extLst>
                    <a:ext uri="{9D8B030D-6E8A-4147-A177-3AD203B41FA5}">
                      <a16:colId xmlns:a16="http://schemas.microsoft.com/office/drawing/2014/main" val="2921372447"/>
                    </a:ext>
                  </a:extLst>
                </a:gridCol>
              </a:tblGrid>
              <a:tr h="370840">
                <a:tc>
                  <a:txBody>
                    <a:bodyPr/>
                    <a:lstStyle/>
                    <a:p>
                      <a:r>
                        <a:rPr lang="en-IN" sz="1600" b="1" dirty="0"/>
                        <a:t>Name of the Student</a:t>
                      </a:r>
                    </a:p>
                  </a:txBody>
                  <a:tcPr/>
                </a:tc>
                <a:tc>
                  <a:txBody>
                    <a:bodyPr/>
                    <a:lstStyle/>
                    <a:p>
                      <a:r>
                        <a:rPr lang="en-IN" b="1" dirty="0"/>
                        <a:t>Roll Number</a:t>
                      </a:r>
                    </a:p>
                  </a:txBody>
                  <a:tcPr/>
                </a:tc>
                <a:extLst>
                  <a:ext uri="{0D108BD9-81ED-4DB2-BD59-A6C34878D82A}">
                    <a16:rowId xmlns:a16="http://schemas.microsoft.com/office/drawing/2014/main" val="3154250006"/>
                  </a:ext>
                </a:extLst>
              </a:tr>
              <a:tr h="370840">
                <a:tc>
                  <a:txBody>
                    <a:bodyPr/>
                    <a:lstStyle/>
                    <a:p>
                      <a:r>
                        <a:rPr lang="en-IN" dirty="0" err="1"/>
                        <a:t>Maddineni</a:t>
                      </a:r>
                      <a:r>
                        <a:rPr lang="en-IN" dirty="0"/>
                        <a:t> Charan Kumar</a:t>
                      </a:r>
                    </a:p>
                  </a:txBody>
                  <a:tcPr/>
                </a:tc>
                <a:tc>
                  <a:txBody>
                    <a:bodyPr/>
                    <a:lstStyle/>
                    <a:p>
                      <a:r>
                        <a:rPr lang="en-IN" dirty="0"/>
                        <a:t>20231CBD0005</a:t>
                      </a:r>
                    </a:p>
                  </a:txBody>
                  <a:tcPr/>
                </a:tc>
                <a:extLst>
                  <a:ext uri="{0D108BD9-81ED-4DB2-BD59-A6C34878D82A}">
                    <a16:rowId xmlns:a16="http://schemas.microsoft.com/office/drawing/2014/main" val="2491237202"/>
                  </a:ext>
                </a:extLst>
              </a:tr>
              <a:tr h="370840">
                <a:tc>
                  <a:txBody>
                    <a:bodyPr/>
                    <a:lstStyle/>
                    <a:p>
                      <a:r>
                        <a:rPr lang="en-IN" dirty="0"/>
                        <a:t>Saniya </a:t>
                      </a:r>
                    </a:p>
                  </a:txBody>
                  <a:tcPr/>
                </a:tc>
                <a:tc>
                  <a:txBody>
                    <a:bodyPr/>
                    <a:lstStyle/>
                    <a:p>
                      <a:r>
                        <a:rPr lang="en-IN" dirty="0"/>
                        <a:t>20231CBD0015</a:t>
                      </a:r>
                    </a:p>
                  </a:txBody>
                  <a:tcPr/>
                </a:tc>
                <a:extLst>
                  <a:ext uri="{0D108BD9-81ED-4DB2-BD59-A6C34878D82A}">
                    <a16:rowId xmlns:a16="http://schemas.microsoft.com/office/drawing/2014/main" val="470316587"/>
                  </a:ext>
                </a:extLst>
              </a:tr>
              <a:tr h="370840">
                <a:tc>
                  <a:txBody>
                    <a:bodyPr/>
                    <a:lstStyle/>
                    <a:p>
                      <a:r>
                        <a:rPr lang="en-IN" dirty="0"/>
                        <a:t>Arpitha S V</a:t>
                      </a:r>
                    </a:p>
                  </a:txBody>
                  <a:tcPr/>
                </a:tc>
                <a:tc>
                  <a:txBody>
                    <a:bodyPr/>
                    <a:lstStyle/>
                    <a:p>
                      <a:r>
                        <a:rPr lang="en-IN" dirty="0"/>
                        <a:t>20231CBD0055</a:t>
                      </a:r>
                    </a:p>
                  </a:txBody>
                  <a:tcPr/>
                </a:tc>
                <a:extLst>
                  <a:ext uri="{0D108BD9-81ED-4DB2-BD59-A6C34878D82A}">
                    <a16:rowId xmlns:a16="http://schemas.microsoft.com/office/drawing/2014/main" val="2175778948"/>
                  </a:ext>
                </a:extLst>
              </a:tr>
              <a:tr h="370840">
                <a:tc>
                  <a:txBody>
                    <a:bodyPr/>
                    <a:lstStyle/>
                    <a:p>
                      <a:r>
                        <a:rPr lang="en-IN" dirty="0"/>
                        <a:t>Dhanraj Dhone</a:t>
                      </a:r>
                    </a:p>
                  </a:txBody>
                  <a:tcPr/>
                </a:tc>
                <a:tc>
                  <a:txBody>
                    <a:bodyPr/>
                    <a:lstStyle/>
                    <a:p>
                      <a:r>
                        <a:rPr lang="en-IN" dirty="0"/>
                        <a:t>20231CBD0046</a:t>
                      </a:r>
                    </a:p>
                  </a:txBody>
                  <a:tcPr/>
                </a:tc>
                <a:extLst>
                  <a:ext uri="{0D108BD9-81ED-4DB2-BD59-A6C34878D82A}">
                    <a16:rowId xmlns:a16="http://schemas.microsoft.com/office/drawing/2014/main" val="242032222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Github Link</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PSAIAC_364</a:t>
            </a:r>
            <a:endParaRPr dirty="0">
              <a:solidFill>
                <a:schemeClr val="tx1"/>
              </a:solidFill>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150000"/>
              </a:lnSpc>
              <a:spcBef>
                <a:spcPts val="0"/>
              </a:spcBef>
              <a:buNone/>
            </a:pPr>
            <a:r>
              <a:rPr lang="en-US" sz="2000" b="1" dirty="0">
                <a:latin typeface="Cambria" panose="02040503050406030204" pitchFamily="18" charset="0"/>
                <a:ea typeface="Cambria" panose="02040503050406030204" pitchFamily="18" charset="0"/>
              </a:rPr>
              <a:t>Organization: </a:t>
            </a:r>
            <a:r>
              <a:rPr lang="en-US" sz="2000" dirty="0">
                <a:latin typeface="Cambria" panose="02040503050406030204" pitchFamily="18" charset="0"/>
                <a:ea typeface="Cambria" panose="02040503050406030204" pitchFamily="18" charset="0"/>
              </a:rPr>
              <a:t>Presidency University</a:t>
            </a:r>
          </a:p>
          <a:p>
            <a:pPr marL="342900" lvl="0" indent="-190500" algn="just">
              <a:lnSpc>
                <a:spcPct val="150000"/>
              </a:lnSpc>
              <a:spcBef>
                <a:spcPts val="0"/>
              </a:spcBef>
              <a:buNone/>
            </a:pPr>
            <a:r>
              <a:rPr lang="en-US" sz="2000" b="1" dirty="0">
                <a:latin typeface="Cambria" panose="02040503050406030204" pitchFamily="18" charset="0"/>
                <a:ea typeface="Cambria" panose="02040503050406030204" pitchFamily="18" charset="0"/>
              </a:rPr>
              <a:t>Category :</a:t>
            </a:r>
            <a:r>
              <a:rPr lang="en-US" sz="2000" dirty="0">
                <a:latin typeface="Cambria" panose="02040503050406030204" pitchFamily="18" charset="0"/>
                <a:ea typeface="Cambria" panose="02040503050406030204" pitchFamily="18" charset="0"/>
              </a:rPr>
              <a:t>Software</a:t>
            </a:r>
          </a:p>
          <a:p>
            <a:pPr marL="152400" indent="0" algn="just">
              <a:lnSpc>
                <a:spcPct val="150000"/>
              </a:lnSpc>
              <a:spcBef>
                <a:spcPts val="0"/>
              </a:spcBef>
              <a:buNone/>
            </a:pPr>
            <a:r>
              <a:rPr lang="en-US" sz="2000" b="1" dirty="0">
                <a:latin typeface="Cambria" panose="02040503050406030204" pitchFamily="18" charset="0"/>
                <a:ea typeface="Cambria" panose="02040503050406030204" pitchFamily="18" charset="0"/>
              </a:rPr>
              <a:t>Problem Description:</a:t>
            </a:r>
            <a:r>
              <a:rPr lang="en-IN" sz="2000" dirty="0">
                <a:latin typeface="Cambria" panose="02040503050406030204" pitchFamily="18" charset="0"/>
                <a:ea typeface="Cambria" panose="02040503050406030204" pitchFamily="18" charset="0"/>
              </a:rPr>
              <a:t>Wildfires cause over $20 billion in annual global losses and burn millions of hectares of forest each year. Existing systems detect fires but often cannot predict how they will spread. This project uses machine learning to predict wildfire spread using weather, vegetation, and terrain data, helping improve early warning, evacuation planning, and emergency response.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96F62-29D0-A4B8-0C97-F5DE1BD81074}"/>
              </a:ext>
            </a:extLst>
          </p:cNvPr>
          <p:cNvSpPr>
            <a:spLocks noGrp="1"/>
          </p:cNvSpPr>
          <p:nvPr>
            <p:ph type="title"/>
          </p:nvPr>
        </p:nvSpPr>
        <p:spPr/>
        <p:txBody>
          <a:bodyPr/>
          <a:lstStyle/>
          <a:p>
            <a:r>
              <a:rPr lang="en-GB" dirty="0">
                <a:latin typeface="Cambria" panose="02040503050406030204" pitchFamily="18" charset="0"/>
                <a:ea typeface="Cambria" panose="02040503050406030204" pitchFamily="18" charset="0"/>
              </a:rPr>
              <a:t>Problem Statement Number: </a:t>
            </a:r>
            <a:r>
              <a:rPr lang="en-GB" dirty="0">
                <a:solidFill>
                  <a:schemeClr val="tx1"/>
                </a:solidFill>
                <a:latin typeface="Cambria" panose="02040503050406030204" pitchFamily="18" charset="0"/>
                <a:ea typeface="Cambria" panose="02040503050406030204" pitchFamily="18" charset="0"/>
              </a:rPr>
              <a:t>PSAIAC_364</a:t>
            </a:r>
            <a:endParaRPr lang="en-IN" dirty="0"/>
          </a:p>
        </p:txBody>
      </p:sp>
      <p:sp>
        <p:nvSpPr>
          <p:cNvPr id="3" name="Text Placeholder 2">
            <a:extLst>
              <a:ext uri="{FF2B5EF4-FFF2-40B4-BE49-F238E27FC236}">
                <a16:creationId xmlns:a16="http://schemas.microsoft.com/office/drawing/2014/main" id="{526E07C5-1B05-8D62-5A6B-EA48667511AB}"/>
              </a:ext>
            </a:extLst>
          </p:cNvPr>
          <p:cNvSpPr>
            <a:spLocks noGrp="1"/>
          </p:cNvSpPr>
          <p:nvPr>
            <p:ph type="body" idx="1"/>
          </p:nvPr>
        </p:nvSpPr>
        <p:spPr/>
        <p:txBody>
          <a:bodyPr>
            <a:normAutofit/>
          </a:bodyPr>
          <a:lstStyle/>
          <a:p>
            <a:pPr marL="76200" indent="0" algn="just">
              <a:lnSpc>
                <a:spcPct val="150000"/>
              </a:lnSpc>
              <a:buNone/>
            </a:pPr>
            <a:r>
              <a:rPr lang="en-US" sz="2000" b="1" dirty="0">
                <a:latin typeface="Cambria" panose="02040503050406030204" pitchFamily="18" charset="0"/>
                <a:ea typeface="Cambria" panose="02040503050406030204" pitchFamily="18" charset="0"/>
              </a:rPr>
              <a:t>Difficulty Level: </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High</a:t>
            </a:r>
          </a:p>
          <a:p>
            <a:pPr marL="76200" indent="0" algn="just">
              <a:lnSpc>
                <a:spcPct val="150000"/>
              </a:lnSpc>
              <a:buNone/>
            </a:pPr>
            <a:r>
              <a:rPr lang="en-IN" sz="2000" dirty="0">
                <a:latin typeface="Cambria" panose="02040503050406030204" pitchFamily="18" charset="0"/>
                <a:ea typeface="Cambria" panose="02040503050406030204" pitchFamily="18" charset="0"/>
              </a:rPr>
              <a:t>Reason:</a:t>
            </a:r>
          </a:p>
          <a:p>
            <a:pPr marL="533400" lvl="0" indent="-457200" algn="just">
              <a:lnSpc>
                <a:spcPct val="150000"/>
              </a:lnSpc>
              <a:buFont typeface="+mj-lt"/>
              <a:buAutoNum type="arabicPeriod"/>
            </a:pPr>
            <a:r>
              <a:rPr lang="en-IN" sz="2000" dirty="0">
                <a:latin typeface="Cambria" panose="02040503050406030204" pitchFamily="18" charset="0"/>
                <a:ea typeface="Cambria" panose="02040503050406030204" pitchFamily="18" charset="0"/>
              </a:rPr>
              <a:t>Requires integration of </a:t>
            </a:r>
            <a:r>
              <a:rPr lang="en-IN" sz="2000" b="1" dirty="0">
                <a:latin typeface="Cambria" panose="02040503050406030204" pitchFamily="18" charset="0"/>
                <a:ea typeface="Cambria" panose="02040503050406030204" pitchFamily="18" charset="0"/>
              </a:rPr>
              <a:t>multiple data sources</a:t>
            </a:r>
            <a:r>
              <a:rPr lang="en-IN" sz="2000" dirty="0">
                <a:latin typeface="Cambria" panose="02040503050406030204" pitchFamily="18" charset="0"/>
                <a:ea typeface="Cambria" panose="02040503050406030204" pitchFamily="18" charset="0"/>
              </a:rPr>
              <a:t> (weather, vegetation, and terrain). </a:t>
            </a:r>
          </a:p>
          <a:p>
            <a:pPr marL="533400" lvl="0" indent="-457200" algn="just">
              <a:lnSpc>
                <a:spcPct val="150000"/>
              </a:lnSpc>
              <a:buFont typeface="+mj-lt"/>
              <a:buAutoNum type="arabicPeriod"/>
            </a:pPr>
            <a:r>
              <a:rPr lang="en-IN" sz="2000" dirty="0">
                <a:latin typeface="Cambria" panose="02040503050406030204" pitchFamily="18" charset="0"/>
                <a:ea typeface="Cambria" panose="02040503050406030204" pitchFamily="18" charset="0"/>
              </a:rPr>
              <a:t>Involves </a:t>
            </a:r>
            <a:r>
              <a:rPr lang="en-IN" sz="2000" b="1" dirty="0">
                <a:latin typeface="Cambria" panose="02040503050406030204" pitchFamily="18" charset="0"/>
                <a:ea typeface="Cambria" panose="02040503050406030204" pitchFamily="18" charset="0"/>
              </a:rPr>
              <a:t>machine learning</a:t>
            </a:r>
            <a:r>
              <a:rPr lang="en-IN" sz="2000" dirty="0">
                <a:latin typeface="Cambria" panose="02040503050406030204" pitchFamily="18" charset="0"/>
                <a:ea typeface="Cambria" panose="02040503050406030204" pitchFamily="18" charset="0"/>
              </a:rPr>
              <a:t> for predicting wildfire spread accurately. </a:t>
            </a:r>
          </a:p>
          <a:p>
            <a:pPr marL="533400" lvl="0" indent="-457200" algn="just">
              <a:lnSpc>
                <a:spcPct val="150000"/>
              </a:lnSpc>
              <a:buFont typeface="+mj-lt"/>
              <a:buAutoNum type="arabicPeriod"/>
            </a:pPr>
            <a:r>
              <a:rPr lang="en-IN" sz="2000" dirty="0">
                <a:latin typeface="Cambria" panose="02040503050406030204" pitchFamily="18" charset="0"/>
                <a:ea typeface="Cambria" panose="02040503050406030204" pitchFamily="18" charset="0"/>
              </a:rPr>
              <a:t>Needs </a:t>
            </a:r>
            <a:r>
              <a:rPr lang="en-IN" sz="2000" b="1" dirty="0">
                <a:latin typeface="Cambria" panose="02040503050406030204" pitchFamily="18" charset="0"/>
                <a:ea typeface="Cambria" panose="02040503050406030204" pitchFamily="18" charset="0"/>
              </a:rPr>
              <a:t>real-time data processing</a:t>
            </a:r>
            <a:r>
              <a:rPr lang="en-IN" sz="2000" dirty="0">
                <a:latin typeface="Cambria" panose="02040503050406030204" pitchFamily="18" charset="0"/>
                <a:ea typeface="Cambria" panose="02040503050406030204" pitchFamily="18" charset="0"/>
              </a:rPr>
              <a:t> for timely predictions. </a:t>
            </a:r>
          </a:p>
          <a:p>
            <a:pPr marL="533400" lvl="0" indent="-457200" algn="just">
              <a:lnSpc>
                <a:spcPct val="150000"/>
              </a:lnSpc>
              <a:buFont typeface="+mj-lt"/>
              <a:buAutoNum type="arabicPeriod"/>
            </a:pPr>
            <a:r>
              <a:rPr lang="en-IN" sz="2000" dirty="0">
                <a:latin typeface="Cambria" panose="02040503050406030204" pitchFamily="18" charset="0"/>
                <a:ea typeface="Cambria" panose="02040503050406030204" pitchFamily="18" charset="0"/>
              </a:rPr>
              <a:t>Fire spread depends on </a:t>
            </a:r>
            <a:r>
              <a:rPr lang="en-IN" sz="2000" b="1" dirty="0">
                <a:latin typeface="Cambria" panose="02040503050406030204" pitchFamily="18" charset="0"/>
                <a:ea typeface="Cambria" panose="02040503050406030204" pitchFamily="18" charset="0"/>
              </a:rPr>
              <a:t>dynamic environmental conditions</a:t>
            </a:r>
            <a:r>
              <a:rPr lang="en-IN" sz="2000" dirty="0">
                <a:latin typeface="Cambria" panose="02040503050406030204" pitchFamily="18" charset="0"/>
                <a:ea typeface="Cambria" panose="02040503050406030204" pitchFamily="18" charset="0"/>
              </a:rPr>
              <a:t>, making prediction challenging. </a:t>
            </a:r>
          </a:p>
          <a:p>
            <a:pPr marL="533400" lvl="0" indent="-457200" algn="just">
              <a:lnSpc>
                <a:spcPct val="150000"/>
              </a:lnSpc>
              <a:buFont typeface="+mj-lt"/>
              <a:buAutoNum type="arabicPeriod"/>
            </a:pPr>
            <a:r>
              <a:rPr lang="en-IN" sz="2000" dirty="0">
                <a:latin typeface="Cambria" panose="02040503050406030204" pitchFamily="18" charset="0"/>
                <a:ea typeface="Cambria" panose="02040503050406030204" pitchFamily="18" charset="0"/>
              </a:rPr>
              <a:t>Requires balancing </a:t>
            </a:r>
            <a:r>
              <a:rPr lang="en-IN" sz="2000" b="1" dirty="0">
                <a:latin typeface="Cambria" panose="02040503050406030204" pitchFamily="18" charset="0"/>
                <a:ea typeface="Cambria" panose="02040503050406030204" pitchFamily="18" charset="0"/>
              </a:rPr>
              <a:t>prediction accuracy</a:t>
            </a:r>
            <a:r>
              <a:rPr lang="en-IN" sz="2000" dirty="0">
                <a:latin typeface="Cambria" panose="02040503050406030204" pitchFamily="18" charset="0"/>
                <a:ea typeface="Cambria" panose="02040503050406030204" pitchFamily="18" charset="0"/>
              </a:rPr>
              <a:t> with </a:t>
            </a:r>
            <a:r>
              <a:rPr lang="en-IN" sz="2000" b="1" dirty="0">
                <a:latin typeface="Cambria" panose="02040503050406030204" pitchFamily="18" charset="0"/>
                <a:ea typeface="Cambria" panose="02040503050406030204" pitchFamily="18" charset="0"/>
              </a:rPr>
              <a:t>fast emergency response</a:t>
            </a:r>
            <a:r>
              <a:rPr lang="en-IN" sz="2000" dirty="0">
                <a:latin typeface="Cambria" panose="02040503050406030204" pitchFamily="18" charset="0"/>
                <a:ea typeface="Cambria" panose="02040503050406030204" pitchFamily="18" charset="0"/>
              </a:rPr>
              <a:t>.</a:t>
            </a:r>
          </a:p>
          <a:p>
            <a:pPr marL="76200" indent="0" algn="just">
              <a:lnSpc>
                <a:spcPct val="150000"/>
              </a:lnSpc>
              <a:buNone/>
            </a:pPr>
            <a:endParaRPr lang="en-US" sz="2000" dirty="0">
              <a:latin typeface="Cambria" panose="02040503050406030204" pitchFamily="18" charset="0"/>
              <a:ea typeface="Cambria" panose="02040503050406030204" pitchFamily="18" charset="0"/>
            </a:endParaRPr>
          </a:p>
          <a:p>
            <a:pPr algn="just">
              <a:lnSpc>
                <a:spcPct val="150000"/>
              </a:lnSpc>
            </a:pPr>
            <a:endParaRPr lang="en-IN" sz="2000" dirty="0"/>
          </a:p>
        </p:txBody>
      </p:sp>
    </p:spTree>
    <p:extLst>
      <p:ext uri="{BB962C8B-B14F-4D97-AF65-F5344CB8AC3E}">
        <p14:creationId xmlns:p14="http://schemas.microsoft.com/office/powerpoint/2010/main" val="2923811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sz="2000" dirty="0">
                <a:latin typeface="Cambria" panose="02040503050406030204" pitchFamily="18" charset="0"/>
                <a:ea typeface="Cambria" panose="02040503050406030204" pitchFamily="18" charset="0"/>
              </a:rPr>
              <a:t>GitHub Repository:</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hlinkClick r:id="rId3"/>
              </a:rPr>
              <a:t>ML-Based Wildfire Spread Prediction</a:t>
            </a:r>
            <a:endParaRPr lang="en-US" sz="2000" dirty="0">
              <a:latin typeface="Cambria" panose="02040503050406030204" pitchFamily="18" charset="0"/>
              <a:ea typeface="Cambria" panose="02040503050406030204" pitchFamily="18" charset="0"/>
            </a:endParaRPr>
          </a:p>
          <a:p>
            <a:pPr marL="76200" indent="0" algn="just">
              <a:lnSpc>
                <a:spcPct val="150000"/>
              </a:lnSpc>
              <a:buNone/>
            </a:pPr>
            <a:r>
              <a:rPr lang="en-IN" sz="2000" b="1" dirty="0">
                <a:latin typeface="Cambria" panose="02040503050406030204" pitchFamily="18" charset="0"/>
                <a:ea typeface="Cambria" panose="02040503050406030204" pitchFamily="18" charset="0"/>
              </a:rPr>
              <a:t>Repository Description: </a:t>
            </a:r>
            <a:r>
              <a:rPr lang="en-IN" sz="2000" dirty="0">
                <a:latin typeface="Cambria" panose="02040503050406030204" pitchFamily="18" charset="0"/>
                <a:ea typeface="Cambria" panose="02040503050406030204" pitchFamily="18" charset="0"/>
              </a:rPr>
              <a:t>An AI-powered wildfire spread prediction system that leverages machine learning to estimate wildfire direction and risk using weather, vegetation, and terrain data. The project aims to support early warning, evacuation planning, and emergency response through intelligent wildfire analysis.</a:t>
            </a:r>
            <a:endParaRPr lang="en-US" sz="20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5B7822A9-2F3D-59EF-B36B-6EF81610F562}"/>
              </a:ext>
            </a:extLst>
          </p:cNvPr>
          <p:cNvGraphicFramePr>
            <a:graphicFrameLocks noGrp="1"/>
          </p:cNvGraphicFramePr>
          <p:nvPr>
            <p:extLst>
              <p:ext uri="{D42A27DB-BD31-4B8C-83A1-F6EECF244321}">
                <p14:modId xmlns:p14="http://schemas.microsoft.com/office/powerpoint/2010/main" val="1446396863"/>
              </p:ext>
            </p:extLst>
          </p:nvPr>
        </p:nvGraphicFramePr>
        <p:xfrm>
          <a:off x="1107767" y="1658579"/>
          <a:ext cx="9363588" cy="4329260"/>
        </p:xfrm>
        <a:graphic>
          <a:graphicData uri="http://schemas.openxmlformats.org/drawingml/2006/table">
            <a:tbl>
              <a:tblPr/>
              <a:tblGrid>
                <a:gridCol w="4681794">
                  <a:extLst>
                    <a:ext uri="{9D8B030D-6E8A-4147-A177-3AD203B41FA5}">
                      <a16:colId xmlns:a16="http://schemas.microsoft.com/office/drawing/2014/main" val="994101444"/>
                    </a:ext>
                  </a:extLst>
                </a:gridCol>
                <a:gridCol w="4681794">
                  <a:extLst>
                    <a:ext uri="{9D8B030D-6E8A-4147-A177-3AD203B41FA5}">
                      <a16:colId xmlns:a16="http://schemas.microsoft.com/office/drawing/2014/main" val="2234778849"/>
                    </a:ext>
                  </a:extLst>
                </a:gridCol>
              </a:tblGrid>
              <a:tr h="432926">
                <a:tc>
                  <a:txBody>
                    <a:bodyPr/>
                    <a:lstStyle/>
                    <a:p>
                      <a:pPr>
                        <a:buNone/>
                      </a:pPr>
                      <a:r>
                        <a:rPr lang="en-IN" sz="2000" b="1" dirty="0">
                          <a:latin typeface="Cambria" panose="02040503050406030204" pitchFamily="18" charset="0"/>
                          <a:ea typeface="Cambria" panose="02040503050406030204" pitchFamily="18" charset="0"/>
                        </a:rPr>
                        <a:t>Component</a:t>
                      </a:r>
                      <a:endParaRPr lang="en-IN" sz="2000" dirty="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b="1">
                          <a:latin typeface="Cambria" panose="02040503050406030204" pitchFamily="18" charset="0"/>
                          <a:ea typeface="Cambria" panose="02040503050406030204" pitchFamily="18" charset="0"/>
                        </a:rPr>
                        <a:t>Technology Used</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810541170"/>
                  </a:ext>
                </a:extLst>
              </a:tr>
              <a:tr h="432926">
                <a:tc>
                  <a:txBody>
                    <a:bodyPr/>
                    <a:lstStyle/>
                    <a:p>
                      <a:pPr>
                        <a:buNone/>
                      </a:pPr>
                      <a:r>
                        <a:rPr lang="en-IN" sz="2000" b="1">
                          <a:latin typeface="Cambria" panose="02040503050406030204" pitchFamily="18" charset="0"/>
                          <a:ea typeface="Cambria" panose="02040503050406030204" pitchFamily="18" charset="0"/>
                        </a:rPr>
                        <a:t>ML Model</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XGBoost</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320722984"/>
                  </a:ext>
                </a:extLst>
              </a:tr>
              <a:tr h="432926">
                <a:tc>
                  <a:txBody>
                    <a:bodyPr/>
                    <a:lstStyle/>
                    <a:p>
                      <a:pPr>
                        <a:buNone/>
                      </a:pPr>
                      <a:r>
                        <a:rPr lang="en-IN" sz="2000" b="1" dirty="0">
                          <a:latin typeface="Cambria" panose="02040503050406030204" pitchFamily="18" charset="0"/>
                          <a:ea typeface="Cambria" panose="02040503050406030204" pitchFamily="18" charset="0"/>
                        </a:rPr>
                        <a:t>Fire Detection</a:t>
                      </a:r>
                      <a:endParaRPr lang="en-IN" sz="2000" dirty="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dirty="0">
                          <a:latin typeface="Cambria" panose="02040503050406030204" pitchFamily="18" charset="0"/>
                          <a:ea typeface="Cambria" panose="02040503050406030204" pitchFamily="18" charset="0"/>
                        </a:rPr>
                        <a:t>Hybrid YoLoV26(Proposing Model)</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02847796"/>
                  </a:ext>
                </a:extLst>
              </a:tr>
              <a:tr h="432926">
                <a:tc>
                  <a:txBody>
                    <a:bodyPr/>
                    <a:lstStyle/>
                    <a:p>
                      <a:pPr>
                        <a:buNone/>
                      </a:pPr>
                      <a:r>
                        <a:rPr lang="en-IN" sz="2000" b="1" dirty="0">
                          <a:latin typeface="Cambria" panose="02040503050406030204" pitchFamily="18" charset="0"/>
                          <a:ea typeface="Cambria" panose="02040503050406030204" pitchFamily="18" charset="0"/>
                        </a:rPr>
                        <a:t>Programming Language</a:t>
                      </a:r>
                      <a:endParaRPr lang="en-IN" sz="2000" dirty="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Python 3.11+</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633091753"/>
                  </a:ext>
                </a:extLst>
              </a:tr>
              <a:tr h="432926">
                <a:tc>
                  <a:txBody>
                    <a:bodyPr/>
                    <a:lstStyle/>
                    <a:p>
                      <a:pPr>
                        <a:buNone/>
                      </a:pPr>
                      <a:r>
                        <a:rPr lang="en-IN" sz="2000" b="1" dirty="0">
                          <a:latin typeface="Cambria" panose="02040503050406030204" pitchFamily="18" charset="0"/>
                          <a:ea typeface="Cambria" panose="02040503050406030204" pitchFamily="18" charset="0"/>
                        </a:rPr>
                        <a:t>Backend</a:t>
                      </a:r>
                      <a:endParaRPr lang="en-IN" sz="2000" dirty="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FastAPI</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07690218"/>
                  </a:ext>
                </a:extLst>
              </a:tr>
              <a:tr h="432926">
                <a:tc>
                  <a:txBody>
                    <a:bodyPr/>
                    <a:lstStyle/>
                    <a:p>
                      <a:pPr>
                        <a:buNone/>
                      </a:pPr>
                      <a:r>
                        <a:rPr lang="en-IN" sz="2000" b="1">
                          <a:latin typeface="Cambria" panose="02040503050406030204" pitchFamily="18" charset="0"/>
                          <a:ea typeface="Cambria" panose="02040503050406030204" pitchFamily="18" charset="0"/>
                        </a:rPr>
                        <a:t>Frontend</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React.js</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487599438"/>
                  </a:ext>
                </a:extLst>
              </a:tr>
              <a:tr h="432926">
                <a:tc>
                  <a:txBody>
                    <a:bodyPr/>
                    <a:lstStyle/>
                    <a:p>
                      <a:pPr>
                        <a:buNone/>
                      </a:pPr>
                      <a:r>
                        <a:rPr lang="en-IN" sz="2000" b="1">
                          <a:latin typeface="Cambria" panose="02040503050406030204" pitchFamily="18" charset="0"/>
                          <a:ea typeface="Cambria" panose="02040503050406030204" pitchFamily="18" charset="0"/>
                        </a:rPr>
                        <a:t>Database</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PostgreSQL</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452424847"/>
                  </a:ext>
                </a:extLst>
              </a:tr>
              <a:tr h="432926">
                <a:tc>
                  <a:txBody>
                    <a:bodyPr/>
                    <a:lstStyle/>
                    <a:p>
                      <a:pPr>
                        <a:buNone/>
                      </a:pPr>
                      <a:r>
                        <a:rPr lang="en-IN" sz="2000" b="1">
                          <a:latin typeface="Cambria" panose="02040503050406030204" pitchFamily="18" charset="0"/>
                          <a:ea typeface="Cambria" panose="02040503050406030204" pitchFamily="18" charset="0"/>
                        </a:rPr>
                        <a:t>Weather API</a:t>
                      </a:r>
                      <a:endParaRPr lang="en-IN" sz="2000">
                        <a:latin typeface="Cambria" panose="02040503050406030204" pitchFamily="18" charset="0"/>
                        <a:ea typeface="Cambria" panose="02040503050406030204" pitchFamily="18" charset="0"/>
                      </a:endParaRPr>
                    </a:p>
                  </a:txBody>
                  <a:tcPr anchor="ctr">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OpenWeatherMap</a:t>
                      </a:r>
                    </a:p>
                  </a:txBody>
                  <a:tcPr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891398071"/>
                  </a:ext>
                </a:extLst>
              </a:tr>
              <a:tr h="432926">
                <a:tc>
                  <a:txBody>
                    <a:bodyPr/>
                    <a:lstStyle/>
                    <a:p>
                      <a:pPr>
                        <a:buNone/>
                      </a:pPr>
                      <a:r>
                        <a:rPr lang="en-IN" sz="2000" b="1">
                          <a:latin typeface="Cambria" panose="02040503050406030204" pitchFamily="18" charset="0"/>
                          <a:ea typeface="Cambria" panose="02040503050406030204" pitchFamily="18" charset="0"/>
                        </a:rPr>
                        <a:t>Version Control</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a:latin typeface="Cambria" panose="02040503050406030204" pitchFamily="18" charset="0"/>
                          <a:ea typeface="Cambria" panose="02040503050406030204" pitchFamily="18" charset="0"/>
                        </a:rPr>
                        <a:t>Git &amp; GitHub</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964466379"/>
                  </a:ext>
                </a:extLst>
              </a:tr>
              <a:tr h="432926">
                <a:tc>
                  <a:txBody>
                    <a:bodyPr/>
                    <a:lstStyle/>
                    <a:p>
                      <a:pPr>
                        <a:buNone/>
                      </a:pPr>
                      <a:r>
                        <a:rPr lang="en-IN" sz="2000" b="1">
                          <a:latin typeface="Cambria" panose="02040503050406030204" pitchFamily="18" charset="0"/>
                          <a:ea typeface="Cambria" panose="02040503050406030204" pitchFamily="18" charset="0"/>
                        </a:rPr>
                        <a:t>Deployment</a:t>
                      </a:r>
                      <a:endParaRPr lang="en-IN" sz="2000">
                        <a:latin typeface="Cambria" panose="02040503050406030204" pitchFamily="18" charset="0"/>
                        <a:ea typeface="Cambria" panose="02040503050406030204" pitchFamily="18" charset="0"/>
                      </a:endParaRPr>
                    </a:p>
                  </a:txBody>
                  <a:tcPr anchor="ctr">
                    <a:lnL>
                      <a:noFill/>
                    </a:lnL>
                    <a:lnR>
                      <a:noFill/>
                    </a:lnR>
                    <a:lnT>
                      <a:noFill/>
                    </a:lnT>
                    <a:lnB>
                      <a:noFill/>
                    </a:lnB>
                    <a:lnTlToBr w="12700" cmpd="sng">
                      <a:noFill/>
                      <a:prstDash val="solid"/>
                    </a:lnTlToBr>
                    <a:lnBlToTr w="12700" cmpd="sng">
                      <a:noFill/>
                      <a:prstDash val="solid"/>
                    </a:lnBlToTr>
                    <a:noFill/>
                  </a:tcPr>
                </a:tc>
                <a:tc>
                  <a:txBody>
                    <a:bodyPr/>
                    <a:lstStyle/>
                    <a:p>
                      <a:pPr>
                        <a:buNone/>
                      </a:pPr>
                      <a:r>
                        <a:rPr lang="en-IN" sz="2000" dirty="0">
                          <a:latin typeface="Cambria" panose="02040503050406030204" pitchFamily="18" charset="0"/>
                          <a:ea typeface="Cambria" panose="02040503050406030204" pitchFamily="18" charset="0"/>
                        </a:rPr>
                        <a:t>Render</a:t>
                      </a:r>
                    </a:p>
                  </a:txBody>
                  <a:tcPr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007103085"/>
                  </a:ext>
                </a:extLst>
              </a:tr>
            </a:tbl>
          </a:graphicData>
        </a:graphic>
      </p:graphicFrame>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lnSpcReduction="10000"/>
          </a:bodyPr>
          <a:lstStyle/>
          <a:p>
            <a:pPr lvl="0" algn="just">
              <a:lnSpc>
                <a:spcPct val="150000"/>
              </a:lnSpc>
            </a:pPr>
            <a:r>
              <a:rPr lang="en-IN" sz="2000" b="1" dirty="0">
                <a:latin typeface="Cambria" panose="02040503050406030204" pitchFamily="18" charset="0"/>
                <a:ea typeface="Cambria" panose="02040503050406030204" pitchFamily="18" charset="0"/>
              </a:rPr>
              <a:t>Increasing Wildfire Incidents:</a:t>
            </a:r>
            <a:r>
              <a:rPr lang="en-IN" sz="2000" dirty="0">
                <a:latin typeface="Cambria" panose="02040503050406030204" pitchFamily="18" charset="0"/>
                <a:ea typeface="Cambria" panose="02040503050406030204" pitchFamily="18" charset="0"/>
              </a:rPr>
              <a:t> Climate change and extreme weather conditions have increased the frequency and intensity of wildfires worldwide. </a:t>
            </a:r>
          </a:p>
          <a:p>
            <a:pPr lvl="0" algn="just">
              <a:lnSpc>
                <a:spcPct val="150000"/>
              </a:lnSpc>
            </a:pPr>
            <a:r>
              <a:rPr lang="en-IN" sz="2000" b="1" dirty="0">
                <a:latin typeface="Cambria" panose="02040503050406030204" pitchFamily="18" charset="0"/>
                <a:ea typeface="Cambria" panose="02040503050406030204" pitchFamily="18" charset="0"/>
              </a:rPr>
              <a:t>High Economic &amp; Environmental Impact:</a:t>
            </a:r>
            <a:r>
              <a:rPr lang="en-IN" sz="2000" dirty="0">
                <a:latin typeface="Cambria" panose="02040503050406030204" pitchFamily="18" charset="0"/>
                <a:ea typeface="Cambria" panose="02040503050406030204" pitchFamily="18" charset="0"/>
              </a:rPr>
              <a:t> Wildfires cause </a:t>
            </a:r>
            <a:r>
              <a:rPr lang="en-IN" sz="2000" b="1" dirty="0">
                <a:latin typeface="Cambria" panose="02040503050406030204" pitchFamily="18" charset="0"/>
                <a:ea typeface="Cambria" panose="02040503050406030204" pitchFamily="18" charset="0"/>
              </a:rPr>
              <a:t>over $20 billion in annual losses</a:t>
            </a:r>
            <a:r>
              <a:rPr lang="en-IN" sz="2000" dirty="0">
                <a:latin typeface="Cambria" panose="02040503050406030204" pitchFamily="18" charset="0"/>
                <a:ea typeface="Cambria" panose="02040503050406030204" pitchFamily="18" charset="0"/>
              </a:rPr>
              <a:t> and destroy </a:t>
            </a:r>
            <a:r>
              <a:rPr lang="en-IN" sz="2000" b="1" dirty="0">
                <a:latin typeface="Cambria" panose="02040503050406030204" pitchFamily="18" charset="0"/>
                <a:ea typeface="Cambria" panose="02040503050406030204" pitchFamily="18" charset="0"/>
              </a:rPr>
              <a:t>millions of hectares of forests</a:t>
            </a:r>
            <a:r>
              <a:rPr lang="en-IN" sz="2000" dirty="0">
                <a:latin typeface="Cambria" panose="02040503050406030204" pitchFamily="18" charset="0"/>
                <a:ea typeface="Cambria" panose="02040503050406030204" pitchFamily="18" charset="0"/>
              </a:rPr>
              <a:t>, affecting biodiversity and human lives. </a:t>
            </a:r>
          </a:p>
          <a:p>
            <a:pPr lvl="0" algn="just">
              <a:lnSpc>
                <a:spcPct val="150000"/>
              </a:lnSpc>
            </a:pPr>
            <a:r>
              <a:rPr lang="en-IN" sz="2000" b="1" dirty="0">
                <a:latin typeface="Cambria" panose="02040503050406030204" pitchFamily="18" charset="0"/>
                <a:ea typeface="Cambria" panose="02040503050406030204" pitchFamily="18" charset="0"/>
              </a:rPr>
              <a:t>Limitations of Existing Systems:</a:t>
            </a:r>
            <a:r>
              <a:rPr lang="en-IN" sz="2000" dirty="0">
                <a:latin typeface="Cambria" panose="02040503050406030204" pitchFamily="18" charset="0"/>
                <a:ea typeface="Cambria" panose="02040503050406030204" pitchFamily="18" charset="0"/>
              </a:rPr>
              <a:t> Most current solutions focus on fire detection but lack accurate wildfire spread prediction capabilities. </a:t>
            </a:r>
          </a:p>
          <a:p>
            <a:pPr lvl="0" algn="just">
              <a:lnSpc>
                <a:spcPct val="150000"/>
              </a:lnSpc>
            </a:pPr>
            <a:r>
              <a:rPr lang="en-IN" sz="2000" b="1" dirty="0">
                <a:latin typeface="Cambria" panose="02040503050406030204" pitchFamily="18" charset="0"/>
                <a:ea typeface="Cambria" panose="02040503050406030204" pitchFamily="18" charset="0"/>
              </a:rPr>
              <a:t>Need for Intelligent Prediction:</a:t>
            </a:r>
            <a:r>
              <a:rPr lang="en-IN" sz="2000" dirty="0">
                <a:latin typeface="Cambria" panose="02040503050406030204" pitchFamily="18" charset="0"/>
                <a:ea typeface="Cambria" panose="02040503050406030204" pitchFamily="18" charset="0"/>
              </a:rPr>
              <a:t> Predicting the direction and speed of wildfire spread using weather, vegetation, and terrain data enables faster emergency response. </a:t>
            </a:r>
          </a:p>
          <a:p>
            <a:pPr lvl="0" algn="just">
              <a:lnSpc>
                <a:spcPct val="150000"/>
              </a:lnSpc>
            </a:pPr>
            <a:r>
              <a:rPr lang="en-IN" sz="2000" b="1" dirty="0">
                <a:latin typeface="Cambria" panose="02040503050406030204" pitchFamily="18" charset="0"/>
                <a:ea typeface="Cambria" panose="02040503050406030204" pitchFamily="18" charset="0"/>
              </a:rPr>
              <a:t>AI-Based Solution:</a:t>
            </a:r>
            <a:r>
              <a:rPr lang="en-IN" sz="2000" dirty="0">
                <a:latin typeface="Cambria" panose="02040503050406030204" pitchFamily="18" charset="0"/>
                <a:ea typeface="Cambria" panose="02040503050406030204" pitchFamily="18" charset="0"/>
              </a:rPr>
              <a:t> Machine learning can </a:t>
            </a:r>
            <a:r>
              <a:rPr lang="en-IN" sz="2000" dirty="0" err="1">
                <a:latin typeface="Cambria" panose="02040503050406030204" pitchFamily="18" charset="0"/>
                <a:ea typeface="Cambria" panose="02040503050406030204" pitchFamily="18" charset="0"/>
              </a:rPr>
              <a:t>analyze</a:t>
            </a:r>
            <a:r>
              <a:rPr lang="en-IN" sz="2000" dirty="0">
                <a:latin typeface="Cambria" panose="02040503050406030204" pitchFamily="18" charset="0"/>
                <a:ea typeface="Cambria" panose="02040503050406030204" pitchFamily="18" charset="0"/>
              </a:rPr>
              <a:t> environmental factors to forecast wildfire spread, helping authorities improve evacuation planning and resource allocation. </a:t>
            </a:r>
          </a:p>
          <a:p>
            <a:pPr marL="342900" lvl="0" indent="-190500" algn="just" rtl="0">
              <a:lnSpc>
                <a:spcPct val="200000"/>
              </a:lnSpc>
              <a:spcBef>
                <a:spcPts val="0"/>
              </a:spcBef>
              <a:spcAft>
                <a:spcPts val="0"/>
              </a:spcAft>
              <a:buClr>
                <a:schemeClr val="dk1"/>
              </a:buClr>
              <a:buSzPct val="100000"/>
              <a:buNone/>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8" name="Picture 7">
            <a:extLst>
              <a:ext uri="{FF2B5EF4-FFF2-40B4-BE49-F238E27FC236}">
                <a16:creationId xmlns:a16="http://schemas.microsoft.com/office/drawing/2014/main" id="{EE88F083-DF19-B860-AE5C-D4B375662C30}"/>
              </a:ext>
            </a:extLst>
          </p:cNvPr>
          <p:cNvPicPr>
            <a:picLocks noChangeAspect="1"/>
          </p:cNvPicPr>
          <p:nvPr/>
        </p:nvPicPr>
        <p:blipFill>
          <a:blip r:embed="rId3"/>
          <a:stretch>
            <a:fillRect/>
          </a:stretch>
        </p:blipFill>
        <p:spPr>
          <a:xfrm>
            <a:off x="711200" y="1032387"/>
            <a:ext cx="10841703" cy="5059169"/>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762000" y="1224254"/>
            <a:ext cx="10668000" cy="4953000"/>
          </a:xfrm>
          <a:prstGeom prst="rect">
            <a:avLst/>
          </a:prstGeom>
          <a:noFill/>
          <a:ln>
            <a:noFill/>
          </a:ln>
        </p:spPr>
        <p:txBody>
          <a:bodyPr spcFirstLastPara="1" wrap="square" lIns="91425" tIns="45700" rIns="91425" bIns="45700" anchor="t" anchorCtr="0">
            <a:noAutofit/>
          </a:bodyPr>
          <a:lstStyle/>
          <a:p>
            <a:pPr marL="533400" indent="-457200" algn="just">
              <a:buFont typeface="+mj-lt"/>
              <a:buAutoNum type="arabicPeriod"/>
            </a:pPr>
            <a:r>
              <a:rPr lang="en-IN" sz="2000" dirty="0">
                <a:latin typeface="Cambria" panose="02040503050406030204" pitchFamily="18" charset="0"/>
                <a:ea typeface="Cambria" panose="02040503050406030204" pitchFamily="18" charset="0"/>
              </a:rPr>
              <a:t> Wang, M., Yue, P., Jiang, L., </a:t>
            </a:r>
            <a:r>
              <a:rPr lang="en-IN" sz="2000" i="1" dirty="0">
                <a:latin typeface="Cambria" panose="02040503050406030204" pitchFamily="18" charset="0"/>
                <a:ea typeface="Cambria" panose="02040503050406030204" pitchFamily="18" charset="0"/>
              </a:rPr>
              <a:t>et al.</a:t>
            </a:r>
            <a:r>
              <a:rPr lang="en-IN" sz="2000" dirty="0">
                <a:latin typeface="Cambria" panose="02040503050406030204" pitchFamily="18" charset="0"/>
                <a:ea typeface="Cambria" panose="02040503050406030204" pitchFamily="18" charset="0"/>
              </a:rPr>
              <a:t>, </a:t>
            </a:r>
            <a:r>
              <a:rPr lang="en-IN" sz="2000" b="1" dirty="0">
                <a:latin typeface="Cambria" panose="02040503050406030204" pitchFamily="18" charset="0"/>
                <a:ea typeface="Cambria" panose="02040503050406030204" pitchFamily="18" charset="0"/>
              </a:rPr>
              <a:t>"</a:t>
            </a:r>
            <a:r>
              <a:rPr lang="en-IN" sz="2000" dirty="0">
                <a:latin typeface="Cambria" panose="02040503050406030204" pitchFamily="18" charset="0"/>
                <a:ea typeface="Cambria" panose="02040503050406030204" pitchFamily="18" charset="0"/>
              </a:rPr>
              <a:t>An Open Flame and Smoke Detection Dataset for Deep Learning in Remote Sensing Based Fire Detection</a:t>
            </a:r>
            <a:r>
              <a:rPr lang="en-IN" sz="2000" b="1" dirty="0">
                <a:latin typeface="Cambria" panose="02040503050406030204" pitchFamily="18" charset="0"/>
                <a:ea typeface="Cambria" panose="02040503050406030204" pitchFamily="18" charset="0"/>
              </a:rPr>
              <a:t>,"</a:t>
            </a:r>
            <a:r>
              <a:rPr lang="en-IN" sz="2000" dirty="0">
                <a:latin typeface="Cambria" panose="02040503050406030204" pitchFamily="18" charset="0"/>
                <a:ea typeface="Cambria" panose="02040503050406030204" pitchFamily="18" charset="0"/>
              </a:rPr>
              <a:t> </a:t>
            </a:r>
            <a:r>
              <a:rPr lang="en-IN" sz="2000" i="1" dirty="0">
                <a:latin typeface="Cambria" panose="02040503050406030204" pitchFamily="18" charset="0"/>
                <a:ea typeface="Cambria" panose="02040503050406030204" pitchFamily="18" charset="0"/>
              </a:rPr>
              <a:t>Geo-spatial Information Science</a:t>
            </a:r>
            <a:r>
              <a:rPr lang="en-IN" sz="2000" dirty="0">
                <a:latin typeface="Cambria" panose="02040503050406030204" pitchFamily="18" charset="0"/>
                <a:ea typeface="Cambria" panose="02040503050406030204" pitchFamily="18" charset="0"/>
              </a:rPr>
              <a:t>, 2025.</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3"/>
              </a:rPr>
              <a:t>https://doi.org/10.1080/10095020.2024.2347922</a:t>
            </a:r>
            <a:endParaRPr lang="en-IN" sz="2000" dirty="0">
              <a:latin typeface="Cambria" panose="02040503050406030204" pitchFamily="18" charset="0"/>
              <a:ea typeface="Cambria" panose="02040503050406030204" pitchFamily="18" charset="0"/>
            </a:endParaRPr>
          </a:p>
          <a:p>
            <a:pPr marL="533400" indent="-457200" algn="just">
              <a:buFont typeface="+mj-lt"/>
              <a:buAutoNum type="arabicPeriod"/>
            </a:pPr>
            <a:r>
              <a:rPr lang="en-IN" sz="2000" dirty="0" err="1">
                <a:latin typeface="Cambria" panose="02040503050406030204" pitchFamily="18" charset="0"/>
                <a:ea typeface="Cambria" panose="02040503050406030204" pitchFamily="18" charset="0"/>
              </a:rPr>
              <a:t>Polenakis</a:t>
            </a:r>
            <a:r>
              <a:rPr lang="en-IN" sz="2000" dirty="0">
                <a:latin typeface="Cambria" panose="02040503050406030204" pitchFamily="18" charset="0"/>
                <a:ea typeface="Cambria" panose="02040503050406030204" pitchFamily="18" charset="0"/>
              </a:rPr>
              <a:t>, I., </a:t>
            </a:r>
            <a:r>
              <a:rPr lang="en-IN" sz="2000" dirty="0" err="1">
                <a:latin typeface="Cambria" panose="02040503050406030204" pitchFamily="18" charset="0"/>
                <a:ea typeface="Cambria" panose="02040503050406030204" pitchFamily="18" charset="0"/>
              </a:rPr>
              <a:t>Sarantidis</a:t>
            </a:r>
            <a:r>
              <a:rPr lang="en-IN" sz="2000" dirty="0">
                <a:latin typeface="Cambria" panose="02040503050406030204" pitchFamily="18" charset="0"/>
                <a:ea typeface="Cambria" panose="02040503050406030204" pitchFamily="18" charset="0"/>
              </a:rPr>
              <a:t>, C., and Karydis, I., "Benchmarking Next-Generation YOLO Architectures for Multi-Platform Forest Fire Recognition</a:t>
            </a:r>
            <a:r>
              <a:rPr lang="en-IN" sz="2000" b="1" dirty="0">
                <a:latin typeface="Cambria" panose="02040503050406030204" pitchFamily="18" charset="0"/>
                <a:ea typeface="Cambria" panose="02040503050406030204" pitchFamily="18" charset="0"/>
              </a:rPr>
              <a:t>,"</a:t>
            </a:r>
            <a:r>
              <a:rPr lang="en-IN" sz="2000" dirty="0">
                <a:latin typeface="Cambria" panose="02040503050406030204" pitchFamily="18" charset="0"/>
                <a:ea typeface="Cambria" panose="02040503050406030204" pitchFamily="18" charset="0"/>
              </a:rPr>
              <a:t> </a:t>
            </a:r>
            <a:r>
              <a:rPr lang="en-IN" sz="2000" i="1" dirty="0">
                <a:latin typeface="Cambria" panose="02040503050406030204" pitchFamily="18" charset="0"/>
                <a:ea typeface="Cambria" panose="02040503050406030204" pitchFamily="18" charset="0"/>
              </a:rPr>
              <a:t>Electronics</a:t>
            </a:r>
            <a:r>
              <a:rPr lang="en-IN" sz="2000" dirty="0">
                <a:latin typeface="Cambria" panose="02040503050406030204" pitchFamily="18" charset="0"/>
                <a:ea typeface="Cambria" panose="02040503050406030204" pitchFamily="18" charset="0"/>
              </a:rPr>
              <a:t>, 2026.</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4"/>
              </a:rPr>
              <a:t>https://doi.org/10.3390/electronics15132830</a:t>
            </a:r>
            <a:endParaRPr lang="en-IN" sz="2000" dirty="0">
              <a:latin typeface="Cambria" panose="02040503050406030204" pitchFamily="18" charset="0"/>
              <a:ea typeface="Cambria" panose="02040503050406030204" pitchFamily="18" charset="0"/>
            </a:endParaRPr>
          </a:p>
          <a:p>
            <a:pPr marL="533400" indent="-457200" algn="just">
              <a:buFont typeface="+mj-lt"/>
              <a:buAutoNum type="arabicPeriod"/>
            </a:pPr>
            <a:r>
              <a:rPr lang="en-IN" sz="2000" dirty="0">
                <a:latin typeface="Cambria" panose="02040503050406030204" pitchFamily="18" charset="0"/>
                <a:ea typeface="Cambria" panose="02040503050406030204" pitchFamily="18" charset="0"/>
              </a:rPr>
              <a:t> Ma, S., Hui, Y., Zhang, Y., and Wu, Y</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"A Lightweight and Sustainable UAV-Based Forest Fire Detection Algorithm Based on an Improved YOLO11 Model," </a:t>
            </a:r>
            <a:r>
              <a:rPr lang="en-IN" sz="2000" i="1" dirty="0">
                <a:latin typeface="Cambria" panose="02040503050406030204" pitchFamily="18" charset="0"/>
                <a:ea typeface="Cambria" panose="02040503050406030204" pitchFamily="18" charset="0"/>
              </a:rPr>
              <a:t>Sustainability</a:t>
            </a:r>
            <a:r>
              <a:rPr lang="en-IN" sz="2000" dirty="0">
                <a:latin typeface="Cambria" panose="02040503050406030204" pitchFamily="18" charset="0"/>
                <a:ea typeface="Cambria" panose="02040503050406030204" pitchFamily="18" charset="0"/>
              </a:rPr>
              <a:t>, 2026.</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5"/>
              </a:rPr>
              <a:t>https://doi.org/10.3390/su180</a:t>
            </a:r>
            <a:endParaRPr lang="en-IN" sz="2000" dirty="0">
              <a:latin typeface="Cambria" panose="02040503050406030204" pitchFamily="18" charset="0"/>
              <a:ea typeface="Cambria" panose="02040503050406030204" pitchFamily="18" charset="0"/>
            </a:endParaRPr>
          </a:p>
          <a:p>
            <a:pPr marL="533400" indent="-457200" algn="just">
              <a:buFont typeface="+mj-lt"/>
              <a:buAutoNum type="arabicPeriod"/>
            </a:pPr>
            <a:r>
              <a:rPr lang="en-IN" sz="2000" dirty="0">
                <a:latin typeface="Cambria" panose="02040503050406030204" pitchFamily="18" charset="0"/>
                <a:ea typeface="Cambria" panose="02040503050406030204" pitchFamily="18" charset="0"/>
              </a:rPr>
              <a:t>Guo, B., Liu, D., Shen, Z., and Wang, T., "FF-Mamba-YOLO: An SSM-Based Benchmark for Forest Fire Detection in UAV Remote Sensing Images," </a:t>
            </a:r>
            <a:r>
              <a:rPr lang="en-IN" sz="2000" i="1" dirty="0">
                <a:latin typeface="Cambria" panose="02040503050406030204" pitchFamily="18" charset="0"/>
                <a:ea typeface="Cambria" panose="02040503050406030204" pitchFamily="18" charset="0"/>
              </a:rPr>
              <a:t>Journal of Imaging</a:t>
            </a:r>
            <a:r>
              <a:rPr lang="en-IN" sz="2000" dirty="0">
                <a:latin typeface="Cambria" panose="02040503050406030204" pitchFamily="18" charset="0"/>
                <a:ea typeface="Cambria" panose="02040503050406030204" pitchFamily="18" charset="0"/>
              </a:rPr>
              <a:t>, 2026.</a:t>
            </a:r>
            <a:br>
              <a:rPr lang="en-IN" sz="2000" dirty="0">
                <a:latin typeface="Cambria" panose="02040503050406030204" pitchFamily="18" charset="0"/>
                <a:ea typeface="Cambria" panose="02040503050406030204" pitchFamily="18" charset="0"/>
              </a:rPr>
            </a:br>
            <a:r>
              <a:rPr lang="en-IN" sz="2000"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hlinkClick r:id="rId6"/>
              </a:rPr>
              <a:t>https://doi.org/10.3390/jimaging12010043</a:t>
            </a:r>
            <a:endParaRPr lang="en-IN" sz="2000" dirty="0">
              <a:latin typeface="Cambria" panose="02040503050406030204" pitchFamily="18" charset="0"/>
              <a:ea typeface="Cambria" panose="020405030504060302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8A2C149D477E4E814B4B477F0E243C" ma:contentTypeVersion="13" ma:contentTypeDescription="Create a new document." ma:contentTypeScope="" ma:versionID="89242249e9f2fc9f35c8ac40d1749aa8">
  <xsd:schema xmlns:xsd="http://www.w3.org/2001/XMLSchema" xmlns:xs="http://www.w3.org/2001/XMLSchema" xmlns:p="http://schemas.microsoft.com/office/2006/metadata/properties" xmlns:ns2="ed62f681-7444-4666-891e-c71d42de2ddf" xmlns:ns3="b8676f30-e579-463a-a8aa-821338b00374" targetNamespace="http://schemas.microsoft.com/office/2006/metadata/properties" ma:root="true" ma:fieldsID="a661edb3eb918c130b5b038713d75e6b" ns2:_="" ns3:_="">
    <xsd:import namespace="ed62f681-7444-4666-891e-c71d42de2ddf"/>
    <xsd:import namespace="b8676f30-e579-463a-a8aa-821338b003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62f681-7444-4666-891e-c71d42de2d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4626717-1439-4315-99ce-985d7ba5c11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8676f30-e579-463a-a8aa-821338b0037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f08d022-328e-4f53-b2cf-c730c7a35dee}" ma:internalName="TaxCatchAll" ma:showField="CatchAllData" ma:web="b8676f30-e579-463a-a8aa-821338b003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d62f681-7444-4666-891e-c71d42de2ddf">
      <Terms xmlns="http://schemas.microsoft.com/office/infopath/2007/PartnerControls"/>
    </lcf76f155ced4ddcb4097134ff3c332f>
    <TaxCatchAll xmlns="b8676f30-e579-463a-a8aa-821338b0037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799BD1-F224-430F-A4F0-5AAD34602B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62f681-7444-4666-891e-c71d42de2ddf"/>
    <ds:schemaRef ds:uri="b8676f30-e579-463a-a8aa-821338b0037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31A4896-B9C1-4471-B691-16FF8CBFF7E9}">
  <ds:schemaRefs>
    <ds:schemaRef ds:uri="http://purl.org/dc/terms/"/>
    <ds:schemaRef ds:uri="http://www.w3.org/XML/1998/namespace"/>
    <ds:schemaRef ds:uri="http://schemas.openxmlformats.org/package/2006/metadata/core-properties"/>
    <ds:schemaRef ds:uri="http://schemas.microsoft.com/office/infopath/2007/PartnerControls"/>
    <ds:schemaRef ds:uri="http://purl.org/dc/elements/1.1/"/>
    <ds:schemaRef ds:uri="http://schemas.microsoft.com/office/2006/documentManagement/types"/>
    <ds:schemaRef ds:uri="http://schemas.microsoft.com/office/2006/metadata/properties"/>
    <ds:schemaRef ds:uri="http://purl.org/dc/dcmitype/"/>
    <ds:schemaRef ds:uri="b8676f30-e579-463a-a8aa-821338b00374"/>
    <ds:schemaRef ds:uri="ed62f681-7444-4666-891e-c71d42de2ddf"/>
  </ds:schemaRefs>
</ds:datastoreItem>
</file>

<file path=customXml/itemProps3.xml><?xml version="1.0" encoding="utf-8"?>
<ds:datastoreItem xmlns:ds="http://schemas.openxmlformats.org/officeDocument/2006/customXml" ds:itemID="{13D2043A-A905-44DC-A627-E0BB4B1558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374</TotalTime>
  <Words>707</Words>
  <Application>Microsoft Office PowerPoint</Application>
  <PresentationFormat>Widescreen</PresentationFormat>
  <Paragraphs>91</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Cambria</vt:lpstr>
      <vt:lpstr>Verdana</vt:lpstr>
      <vt:lpstr>Wingdings</vt:lpstr>
      <vt:lpstr>Bioinformatics</vt:lpstr>
      <vt:lpstr>PowerPoint Presentation</vt:lpstr>
      <vt:lpstr>Computer Vision-Based Wildfire Detection Using a Hybrid  YoLo Model </vt:lpstr>
      <vt:lpstr>Content</vt:lpstr>
      <vt:lpstr>Problem Statement Number: PSAIAC_364</vt:lpstr>
      <vt:lpstr>Problem Statement Number: PSAIAC_364</vt:lpstr>
      <vt:lpstr>Github Link</vt:lpstr>
      <vt:lpstr>Analysis of Problem Statement</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DINESH KUMAR MADDINENI</cp:lastModifiedBy>
  <cp:revision>46</cp:revision>
  <dcterms:modified xsi:type="dcterms:W3CDTF">2026-08-08T03:34:37Z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0x010100FA8A2C149D477E4E814B4B477F0E243C</vt:lpwstr>
  </property>
</Properties>
</file>